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9" r:id="rId2"/>
    <p:sldId id="270" r:id="rId3"/>
    <p:sldId id="271" r:id="rId4"/>
    <p:sldId id="272" r:id="rId5"/>
    <p:sldId id="274" r:id="rId6"/>
    <p:sldId id="273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4" d="100"/>
          <a:sy n="84" d="100"/>
        </p:scale>
        <p:origin x="658" y="72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7"/>
        <p:guide pos="6911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3/14/2026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3/14/2026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a map of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24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a picture of one of the geographic features of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2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illustrating a season in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4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illustrating a custom or tradition here.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20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of an animal and or plant found in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4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7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5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0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6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8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5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1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000">
              <a:schemeClr val="bg1"/>
            </a:gs>
            <a:gs pos="40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2">
                <a:lumMod val="9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ltGray">
          <a:xfrm>
            <a:off x="146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1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74520" indent="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eostatsassignment-dtfmcedp8pv542jwimg5ql.streamlit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sayandip308826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25860" y="2552699"/>
            <a:ext cx="9753600" cy="3048001"/>
          </a:xfrm>
        </p:spPr>
        <p:txBody>
          <a:bodyPr/>
          <a:lstStyle/>
          <a:p>
            <a:r>
              <a:rPr lang="en-US" b="1" dirty="0"/>
              <a:t>Financed Emissions &amp; Climate Risk Advisor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9125270" cy="1143000"/>
          </a:xfrm>
        </p:spPr>
        <p:txBody>
          <a:bodyPr/>
          <a:lstStyle/>
          <a:p>
            <a:r>
              <a:rPr lang="en-US" dirty="0"/>
              <a:t>Sayandip Ghosh | M.Sc. Data Science|Christ (Deemed-to-be-University</a:t>
            </a:r>
          </a:p>
        </p:txBody>
      </p:sp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0">
              <a:schemeClr val="bg1"/>
            </a:gs>
            <a:gs pos="42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Intelligent Standards Advisor</a:t>
            </a:r>
            <a:r>
              <a:rPr lang="en-IN" dirty="0"/>
              <a:t>: To develop a specialized AI assistant that provides instant, high-precision guidance on </a:t>
            </a:r>
            <a:r>
              <a:rPr lang="en-IN" b="1" dirty="0"/>
              <a:t>PCAF</a:t>
            </a:r>
            <a:r>
              <a:rPr lang="en-IN" dirty="0"/>
              <a:t> and </a:t>
            </a:r>
            <a:r>
              <a:rPr lang="en-IN" b="1" dirty="0"/>
              <a:t>GHG Protocol</a:t>
            </a:r>
            <a:r>
              <a:rPr lang="en-IN" dirty="0"/>
              <a:t> standards by leveraging a custom Retrieval-Augmented Generation (RAG) architecture.</a:t>
            </a:r>
          </a:p>
          <a:p>
            <a:r>
              <a:rPr lang="en-IN" b="1" dirty="0"/>
              <a:t>Context-Aware Hybrid Knowledge</a:t>
            </a:r>
            <a:r>
              <a:rPr lang="en-IN" dirty="0"/>
              <a:t>: To solve the "data-gap" problem by implementing an intelligent fallback logic that seamlessly transitions from secure private document analysis to live web knowledge when local data is insufficient.</a:t>
            </a:r>
          </a:p>
          <a:p>
            <a:r>
              <a:rPr lang="en-IN" b="1" dirty="0"/>
              <a:t>Enterprise-Grade Performance &amp; UX</a:t>
            </a:r>
            <a:r>
              <a:rPr lang="en-IN" dirty="0"/>
              <a:t>: To deliver a premium, high-speed user experience using </a:t>
            </a:r>
            <a:r>
              <a:rPr lang="en-IN" b="1" dirty="0" err="1"/>
              <a:t>Groq’s</a:t>
            </a:r>
            <a:r>
              <a:rPr lang="en-IN" b="1" dirty="0"/>
              <a:t> LPU inference</a:t>
            </a:r>
            <a:r>
              <a:rPr lang="en-IN" dirty="0"/>
              <a:t> for near-zero latency and a futuristic </a:t>
            </a:r>
            <a:r>
              <a:rPr lang="en-IN" b="1" dirty="0" err="1"/>
              <a:t>Glassmorphic</a:t>
            </a:r>
            <a:r>
              <a:rPr lang="en-IN" b="1" dirty="0"/>
              <a:t> UI</a:t>
            </a:r>
            <a:r>
              <a:rPr lang="en-IN" dirty="0"/>
              <a:t> designed for professional sustainability reporting.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5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88" y="23018"/>
            <a:ext cx="7095736" cy="1805781"/>
          </a:xfrm>
        </p:spPr>
        <p:txBody>
          <a:bodyPr/>
          <a:lstStyle/>
          <a:p>
            <a:r>
              <a:rPr lang="en-IN" dirty="0"/>
              <a:t>Approach &amp; Methodology</a:t>
            </a:r>
            <a:br>
              <a:rPr lang="en-IN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40" y="1412776"/>
            <a:ext cx="4708734" cy="3616426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Optimized Knowledge Base</a:t>
            </a:r>
            <a:r>
              <a:rPr lang="en-IN" dirty="0"/>
              <a:t>: Leveraging a pre-built vector database of PCAF and GHG Protocol standards for instant, high-speed access to technical climate data.</a:t>
            </a:r>
          </a:p>
          <a:p>
            <a:r>
              <a:rPr lang="en-IN" b="1" dirty="0"/>
              <a:t>Semantic Context Retrieval</a:t>
            </a:r>
            <a:r>
              <a:rPr lang="en-IN" dirty="0"/>
              <a:t>: Using all-MiniLM-L6-v2 embeddings to perform high-accuracy conceptual matches between user queries and the stored standards.</a:t>
            </a:r>
          </a:p>
          <a:p>
            <a:r>
              <a:rPr lang="en-IN" b="1" dirty="0"/>
              <a:t>Hybrid Fallback Intelligence</a:t>
            </a:r>
            <a:r>
              <a:rPr lang="en-IN" dirty="0"/>
              <a:t>: An autonomous logic layer that triggers a stable Wikipedia search if local PDF data is insufficient, ensuring 100% request fulfillment.</a:t>
            </a:r>
          </a:p>
          <a:p>
            <a:r>
              <a:rPr lang="en-IN" b="1" dirty="0" err="1"/>
              <a:t>Groq</a:t>
            </a:r>
            <a:r>
              <a:rPr lang="en-IN" b="1" dirty="0"/>
              <a:t> LPU Synthesis</a:t>
            </a:r>
            <a:r>
              <a:rPr lang="en-IN" dirty="0"/>
              <a:t>: Utilizing Llama-3-8B for sub-second synthesis of retrieved context into a professional, mode-aware (Concise/Detailed) advisor response.</a:t>
            </a:r>
          </a:p>
          <a:p>
            <a:pPr marL="4572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D9C6EF-D798-F989-7DAA-A75D7DF9BC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30316" y="404664"/>
            <a:ext cx="6624736" cy="6264696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226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5900" y="836712"/>
            <a:ext cx="10801199" cy="1325562"/>
          </a:xfrm>
        </p:spPr>
        <p:txBody>
          <a:bodyPr>
            <a:normAutofit/>
          </a:bodyPr>
          <a:lstStyle/>
          <a:p>
            <a:r>
              <a:rPr lang="en-US" b="1" dirty="0"/>
              <a:t>The Solution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10117717" cy="4343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Dual-Knowledge Hybrid Engine</a:t>
            </a:r>
            <a:r>
              <a:rPr lang="en-US" dirty="0"/>
              <a:t>: A single platform that intelligently merges the precision of internal PDF standards with the infinite breadth of live-web knowledge.</a:t>
            </a:r>
          </a:p>
          <a:p>
            <a:r>
              <a:rPr lang="en-US" b="1" dirty="0" err="1"/>
              <a:t>Groq</a:t>
            </a:r>
            <a:r>
              <a:rPr lang="en-US" b="1" dirty="0"/>
              <a:t>-Accelerated Intelligence</a:t>
            </a:r>
            <a:r>
              <a:rPr lang="en-US" dirty="0"/>
              <a:t>: Leverages </a:t>
            </a:r>
            <a:r>
              <a:rPr lang="en-US" dirty="0" err="1"/>
              <a:t>Groq’s</a:t>
            </a:r>
            <a:r>
              <a:rPr lang="en-US" dirty="0"/>
              <a:t> high-speed LPU technology to deliver Llama-3 climate risk synthesis with sub-second latency—10x faster than traditional AI deployments.</a:t>
            </a:r>
          </a:p>
          <a:p>
            <a:r>
              <a:rPr lang="en-US" b="1" dirty="0"/>
              <a:t>Enterprise Persona Customization</a:t>
            </a:r>
            <a:r>
              <a:rPr lang="en-US" dirty="0"/>
              <a:t>: A specialized configuration system that adapts its verbosity (Concise vs. Detailed) to meet the diverse needs of both executive summaries and technical analysts.</a:t>
            </a:r>
          </a:p>
          <a:p>
            <a:r>
              <a:rPr lang="en-US" b="1" dirty="0"/>
              <a:t>Cloud-Native Resilience</a:t>
            </a:r>
            <a:r>
              <a:rPr lang="en-US" dirty="0"/>
              <a:t>: A secure, public-facing asset deployed on </a:t>
            </a:r>
            <a:r>
              <a:rPr lang="en-US" b="1" dirty="0"/>
              <a:t>Streamlit Cloud</a:t>
            </a:r>
            <a:r>
              <a:rPr lang="en-US" dirty="0"/>
              <a:t>, featuring enterprise-grade error handling for 100% request fulfillment.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09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9901693" cy="43434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Futuristic </a:t>
            </a:r>
            <a:r>
              <a:rPr lang="en-IN" b="1" dirty="0" err="1"/>
              <a:t>Glassmorphic</a:t>
            </a:r>
            <a:r>
              <a:rPr lang="en-IN" b="1" dirty="0"/>
              <a:t> UI</a:t>
            </a:r>
            <a:r>
              <a:rPr lang="en-IN" dirty="0"/>
              <a:t>: A premium user interface leveraging custom CSS-3 "</a:t>
            </a:r>
            <a:r>
              <a:rPr lang="en-IN" dirty="0" err="1"/>
              <a:t>Glassmorphism</a:t>
            </a:r>
            <a:r>
              <a:rPr lang="en-IN" dirty="0"/>
              <a:t>" for a transparent, sleek, and enterprise-grade energy sector aesthetic.</a:t>
            </a:r>
          </a:p>
          <a:p>
            <a:r>
              <a:rPr lang="en-IN" b="1" dirty="0"/>
              <a:t>Dual-Stream Context Engine</a:t>
            </a:r>
            <a:r>
              <a:rPr lang="en-IN" dirty="0"/>
              <a:t>: A smart "Hybrid-Knowledge" system that autonomously switches between </a:t>
            </a:r>
            <a:r>
              <a:rPr lang="en-IN" b="1" dirty="0"/>
              <a:t>Private PDF Analysis</a:t>
            </a:r>
            <a:r>
              <a:rPr lang="en-IN" dirty="0"/>
              <a:t> (</a:t>
            </a:r>
            <a:r>
              <a:rPr lang="en-IN" dirty="0" err="1"/>
              <a:t>ChromaDB</a:t>
            </a:r>
            <a:r>
              <a:rPr lang="en-IN" dirty="0"/>
              <a:t>) and </a:t>
            </a:r>
            <a:r>
              <a:rPr lang="en-IN" b="1" dirty="0"/>
              <a:t>Live Web Intelligence</a:t>
            </a:r>
            <a:r>
              <a:rPr lang="en-IN" dirty="0"/>
              <a:t> (Wikipedia).</a:t>
            </a:r>
          </a:p>
          <a:p>
            <a:r>
              <a:rPr lang="en-IN" b="1" dirty="0"/>
              <a:t>LPU-Accelerated Inference</a:t>
            </a:r>
            <a:r>
              <a:rPr lang="en-IN" dirty="0"/>
              <a:t>: Utilizing </a:t>
            </a:r>
            <a:r>
              <a:rPr lang="en-IN" b="1" dirty="0" err="1"/>
              <a:t>Groq’s</a:t>
            </a:r>
            <a:r>
              <a:rPr lang="en-IN" b="1" dirty="0"/>
              <a:t> hardware technology</a:t>
            </a:r>
            <a:r>
              <a:rPr lang="en-IN" dirty="0"/>
              <a:t> for ultra-low latency responses, providing complex climate advice in sub-second timeframes.</a:t>
            </a:r>
          </a:p>
          <a:p>
            <a:r>
              <a:rPr lang="en-IN" b="1" dirty="0"/>
              <a:t>Dynamic Response Personas</a:t>
            </a:r>
            <a:r>
              <a:rPr lang="en-IN" dirty="0"/>
              <a:t>: Interactive toggles that allow users to instantly switch between </a:t>
            </a:r>
            <a:r>
              <a:rPr lang="en-IN" b="1" dirty="0"/>
              <a:t>Concise Executive Summaries</a:t>
            </a:r>
            <a:r>
              <a:rPr lang="en-IN" dirty="0"/>
              <a:t> and </a:t>
            </a:r>
            <a:r>
              <a:rPr lang="en-IN" b="1" dirty="0"/>
              <a:t>Detailed Technical Deep-dives</a:t>
            </a:r>
            <a:r>
              <a:rPr lang="en-IN" dirty="0"/>
              <a:t>.</a:t>
            </a:r>
          </a:p>
          <a:p>
            <a:r>
              <a:rPr lang="en-IN" b="1" dirty="0"/>
              <a:t>Intelligent Logic Notifications</a:t>
            </a:r>
            <a:r>
              <a:rPr lang="en-IN" dirty="0"/>
              <a:t>: Integrated real-time "Toast" alerts that notify the user the moment the AI transitions from local files to live web 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1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5CAA86-6867-72DD-DE10-4C6A9FF30D4D}"/>
              </a:ext>
            </a:extLst>
          </p:cNvPr>
          <p:cNvSpPr txBox="1"/>
          <p:nvPr/>
        </p:nvSpPr>
        <p:spPr>
          <a:xfrm>
            <a:off x="1217614" y="1988840"/>
            <a:ext cx="9753600" cy="4247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endParaRPr lang="en-IN" sz="2400" dirty="0" err="1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F4759388-A534-8823-1F54-004931FF1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860" y="1600200"/>
            <a:ext cx="1060590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 Optimization (Git Cleanup):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Resolved critical deployment failures and 500MB+ repository bloat by purging legacy virtual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Database Cloud-Friction: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Overcame "Tenant Connection" and telemetry crashes in Streamlit Community Cloud by refactoring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ChromaDB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initialization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explicit persistence settings and disabling incompatible telemetry trackers.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Web-Search Firewall Resiliency: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Bypassed cloud-server firewall blocks on real-time search logic by refactoring the fallback engine to use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Wikipedia API Wrapper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an unblocked and consistent external knowledge stream.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Rendering &amp; Theme Integrity: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Fixed invisible UI elements caused by conflicting Streamlit base styles by engineering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high-priority CSS classes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the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Glassmorphism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theme rendered perfectly across all modern browsers.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Link </a:t>
            </a:r>
            <a:r>
              <a:rPr lang="en-US" altLang="en-US" dirty="0">
                <a:latin typeface="Arial" panose="020B0604020202020204" pitchFamily="34" charset="0"/>
              </a:rPr>
              <a:t>- </a:t>
            </a:r>
            <a:r>
              <a:rPr lang="en-US" altLang="en-US" dirty="0">
                <a:latin typeface="Arial" panose="020B0604020202020204" pitchFamily="34" charset="0"/>
                <a:hlinkClick r:id="rId3"/>
              </a:rPr>
              <a:t>https://neostatsassignment-dtfmcedp8pv542jwimg5ql.streamlit.app/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 err="1">
                <a:latin typeface="Arial" panose="020B0604020202020204" pitchFamily="34" charset="0"/>
              </a:rPr>
              <a:t>Github</a:t>
            </a:r>
            <a:r>
              <a:rPr lang="en-US" altLang="en-US" dirty="0">
                <a:latin typeface="Arial" panose="020B0604020202020204" pitchFamily="34" charset="0"/>
              </a:rPr>
              <a:t> - </a:t>
            </a:r>
            <a:r>
              <a:rPr lang="en-US" altLang="en-US" dirty="0">
                <a:latin typeface="Arial" panose="020B0604020202020204" pitchFamily="34" charset="0"/>
                <a:hlinkClick r:id="rId4"/>
              </a:rPr>
              <a:t>https://github.com/sayandip30882636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73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ld count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ln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lnSpc>
            <a:spcPct val="90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orld country report presentation.potx" id="{FF082492-D6CE-444E-B3E8-FB131EDFAC53}" vid="{71BD5CC8-96B3-46A6-8835-37741E8965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World country report presentation</Template>
  <TotalTime>45</TotalTime>
  <Words>651</Words>
  <Application>Microsoft Office PowerPoint</Application>
  <PresentationFormat>Custom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World country report presentation</vt:lpstr>
      <vt:lpstr>Financed Emissions &amp; Climate Risk Advisor </vt:lpstr>
      <vt:lpstr>Objective</vt:lpstr>
      <vt:lpstr>Approach &amp; Methodology </vt:lpstr>
      <vt:lpstr>The Solution  </vt:lpstr>
      <vt:lpstr>Features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Sayandip Ghosh</dc:creator>
  <cp:lastModifiedBy>Sayandip Ghosh</cp:lastModifiedBy>
  <cp:revision>1</cp:revision>
  <dcterms:created xsi:type="dcterms:W3CDTF">2026-03-14T03:43:47Z</dcterms:created>
  <dcterms:modified xsi:type="dcterms:W3CDTF">2026-03-14T04:29:11Z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